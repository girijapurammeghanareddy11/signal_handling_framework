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 program that demonstrates how Linux processes receive and handle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signal travels from the user to the process; the handler decides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goals: signals, custom signals, child handling, masking, graceful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signal has one role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 go to the parent; parent forks the child; child sends SIGCHLD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snake: left to right, then right to left, then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SIGUSR1 sent during the 10 second block stays pending, then runs the handler after unblock.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tools are all that is needed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1 builds and runs the program and prints the parent PID; Terminal 2 sends signals to that PID.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program, copy the parent PID, send signals from a second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four outcomes and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3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3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 FRAMEWORK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6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C-based framework for handling Linux signals</a:t>
            </a:r>
            <a:endParaRPr lang="en-US" sz="2600" dirty="0"/>
          </a:p>
        </p:txBody>
      </p:sp>
      <p:sp>
        <p:nvSpPr>
          <p:cNvPr id="4" name="flow0"/>
          <p:cNvSpPr/>
          <p:nvPr/>
        </p:nvSpPr>
        <p:spPr>
          <a:xfrm>
            <a:off x="548640" y="3200400"/>
            <a:ext cx="3108960" cy="1554480"/>
          </a:xfrm>
          <a:prstGeom prst="roundRect">
            <a:avLst>
              <a:gd name="adj" fmla="val 11765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child</a:t>
            </a:r>
            <a:endParaRPr lang="en-US" sz="2200" dirty="0"/>
          </a:p>
        </p:txBody>
      </p:sp>
      <p:sp>
        <p:nvSpPr>
          <p:cNvPr id="7" name="flow1"/>
          <p:cNvSpPr/>
          <p:nvPr/>
        </p:nvSpPr>
        <p:spPr>
          <a:xfrm>
            <a:off x="4526280" y="3200400"/>
            <a:ext cx="3108960" cy="1554480"/>
          </a:xfrm>
          <a:prstGeom prst="roundRect">
            <a:avLst>
              <a:gd name="adj" fmla="val 11765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4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signals</a:t>
            </a:r>
            <a:endParaRPr lang="en-US" sz="2200" dirty="0"/>
          </a:p>
        </p:txBody>
      </p:sp>
      <p:sp>
        <p:nvSpPr>
          <p:cNvPr id="10" name="flow2"/>
          <p:cNvSpPr/>
          <p:nvPr/>
        </p:nvSpPr>
        <p:spPr>
          <a:xfrm>
            <a:off x="8503920" y="3200400"/>
            <a:ext cx="3108960" cy="1554480"/>
          </a:xfrm>
          <a:prstGeom prst="roundRect">
            <a:avLst>
              <a:gd name="adj" fmla="val 11765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0392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then finishes</a:t>
            </a:r>
            <a:endParaRPr lang="en-US" sz="2200" dirty="0"/>
          </a:p>
        </p:txBody>
      </p:sp>
      <p:sp>
        <p:nvSpPr>
          <p:cNvPr id="13" name="arrow"/>
          <p:cNvSpPr/>
          <p:nvPr/>
        </p:nvSpPr>
        <p:spPr>
          <a:xfrm>
            <a:off x="3703320" y="3977640"/>
            <a:ext cx="7772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7680960" y="3977640"/>
            <a:ext cx="7772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6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demonstrated</a:t>
            </a:r>
            <a:endParaRPr lang="en-US" sz="2000" dirty="0"/>
          </a:p>
        </p:txBody>
      </p:sp>
      <p:sp>
        <p:nvSpPr>
          <p:cNvPr id="16" name="chipSIGUSR1"/>
          <p:cNvSpPr/>
          <p:nvPr/>
        </p:nvSpPr>
        <p:spPr>
          <a:xfrm>
            <a:off x="548640" y="5623560"/>
            <a:ext cx="2011680" cy="594360"/>
          </a:xfrm>
          <a:prstGeom prst="roundRect">
            <a:avLst>
              <a:gd name="adj" fmla="val 46154"/>
            </a:avLst>
          </a:prstGeom>
          <a:solidFill>
            <a:srgbClr val="2F6FDE"/>
          </a:solidFill>
          <a:ln w="6350">
            <a:solidFill>
              <a:srgbClr val="2F6F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623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</a:t>
            </a:r>
            <a:endParaRPr lang="en-US" sz="2000" dirty="0"/>
          </a:p>
        </p:txBody>
      </p:sp>
      <p:sp>
        <p:nvSpPr>
          <p:cNvPr id="18" name="chipSIGUSR2"/>
          <p:cNvSpPr/>
          <p:nvPr/>
        </p:nvSpPr>
        <p:spPr>
          <a:xfrm>
            <a:off x="2811780" y="5623560"/>
            <a:ext cx="2011680" cy="594360"/>
          </a:xfrm>
          <a:prstGeom prst="roundRect">
            <a:avLst>
              <a:gd name="adj" fmla="val 46154"/>
            </a:avLst>
          </a:prstGeom>
          <a:solidFill>
            <a:srgbClr val="6B4BC8"/>
          </a:solidFill>
          <a:ln w="6350">
            <a:solidFill>
              <a:srgbClr val="6B4B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1780" y="5623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SIGUSR2</a:t>
            </a:r>
            <a:endParaRPr lang="en-US" sz="2000" dirty="0"/>
          </a:p>
        </p:txBody>
      </p:sp>
      <p:sp>
        <p:nvSpPr>
          <p:cNvPr id="20" name="chipSIGCHLD"/>
          <p:cNvSpPr/>
          <p:nvPr/>
        </p:nvSpPr>
        <p:spPr>
          <a:xfrm>
            <a:off x="5074920" y="5623560"/>
            <a:ext cx="2011680" cy="594360"/>
          </a:xfrm>
          <a:prstGeom prst="roundRect">
            <a:avLst>
              <a:gd name="adj" fmla="val 46154"/>
            </a:avLst>
          </a:prstGeom>
          <a:solidFill>
            <a:srgbClr val="0E8C8A"/>
          </a:solidFill>
          <a:ln w="6350">
            <a:solidFill>
              <a:srgbClr val="0E8C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5623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</a:t>
            </a:r>
            <a:endParaRPr lang="en-US" sz="2000" dirty="0"/>
          </a:p>
        </p:txBody>
      </p:sp>
      <p:sp>
        <p:nvSpPr>
          <p:cNvPr id="22" name="chipSIGTERM"/>
          <p:cNvSpPr/>
          <p:nvPr/>
        </p:nvSpPr>
        <p:spPr>
          <a:xfrm>
            <a:off x="7338060" y="5623560"/>
            <a:ext cx="2011680" cy="594360"/>
          </a:xfrm>
          <a:prstGeom prst="roundRect">
            <a:avLst>
              <a:gd name="adj" fmla="val 46154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38060" y="5623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</a:t>
            </a:r>
            <a:endParaRPr lang="en-US" sz="2000" dirty="0"/>
          </a:p>
        </p:txBody>
      </p:sp>
      <p:sp>
        <p:nvSpPr>
          <p:cNvPr id="24" name="chipSIGINT"/>
          <p:cNvSpPr/>
          <p:nvPr/>
        </p:nvSpPr>
        <p:spPr>
          <a:xfrm>
            <a:off x="9601200" y="5623560"/>
            <a:ext cx="2011680" cy="594360"/>
          </a:xfrm>
          <a:prstGeom prst="roundRect">
            <a:avLst>
              <a:gd name="adj" fmla="val 46154"/>
            </a:avLst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0" y="5623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3600" dirty="0"/>
          </a:p>
        </p:txBody>
      </p:sp>
      <p:sp>
        <p:nvSpPr>
          <p:cNvPr id="4" name="step0"/>
          <p:cNvSpPr/>
          <p:nvPr/>
        </p:nvSpPr>
        <p:spPr>
          <a:xfrm>
            <a:off x="548640" y="1463040"/>
            <a:ext cx="2286000" cy="1920240"/>
          </a:xfrm>
          <a:prstGeom prst="roundRect">
            <a:avLst>
              <a:gd name="adj" fmla="val 9524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TERMINAL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kill, Ctrl+C</a:t>
            </a:r>
            <a:endParaRPr lang="en-US" sz="2000" dirty="0"/>
          </a:p>
        </p:txBody>
      </p:sp>
      <p:sp>
        <p:nvSpPr>
          <p:cNvPr id="7" name="arrow"/>
          <p:cNvSpPr/>
          <p:nvPr/>
        </p:nvSpPr>
        <p:spPr>
          <a:xfrm>
            <a:off x="2880360" y="2423160"/>
            <a:ext cx="5486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8" name="step1"/>
          <p:cNvSpPr/>
          <p:nvPr/>
        </p:nvSpPr>
        <p:spPr>
          <a:xfrm>
            <a:off x="3474720" y="1463040"/>
            <a:ext cx="2286000" cy="1920240"/>
          </a:xfrm>
          <a:prstGeom prst="roundRect">
            <a:avLst>
              <a:gd name="adj" fmla="val 9524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6616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SIGUSR1, SIGTERM…</a:t>
            </a:r>
            <a:endParaRPr lang="en-US" sz="2000" dirty="0"/>
          </a:p>
        </p:txBody>
      </p:sp>
      <p:sp>
        <p:nvSpPr>
          <p:cNvPr id="11" name="arrow"/>
          <p:cNvSpPr/>
          <p:nvPr/>
        </p:nvSpPr>
        <p:spPr>
          <a:xfrm>
            <a:off x="5806440" y="2423160"/>
            <a:ext cx="5486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2" name="step2"/>
          <p:cNvSpPr/>
          <p:nvPr/>
        </p:nvSpPr>
        <p:spPr>
          <a:xfrm>
            <a:off x="6400800" y="1463040"/>
            <a:ext cx="2286000" cy="1920240"/>
          </a:xfrm>
          <a:prstGeom prst="roundRect">
            <a:avLst>
              <a:gd name="adj" fmla="val 9524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9224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signal</a:t>
            </a:r>
            <a:endParaRPr lang="en-US" sz="2000" dirty="0"/>
          </a:p>
        </p:txBody>
      </p:sp>
      <p:sp>
        <p:nvSpPr>
          <p:cNvPr id="15" name="arrow"/>
          <p:cNvSpPr/>
          <p:nvPr/>
        </p:nvSpPr>
        <p:spPr>
          <a:xfrm>
            <a:off x="8732520" y="2423160"/>
            <a:ext cx="5486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6" name="step3"/>
          <p:cNvSpPr/>
          <p:nvPr/>
        </p:nvSpPr>
        <p:spPr>
          <a:xfrm>
            <a:off x="9326880" y="1463040"/>
            <a:ext cx="2286000" cy="1920240"/>
          </a:xfrm>
          <a:prstGeom prst="roundRect">
            <a:avLst>
              <a:gd name="adj" fmla="val 9524"/>
            </a:avLst>
          </a:prstGeom>
          <a:solidFill>
            <a:srgbClr val="E1F5E9"/>
          </a:solidFill>
          <a:ln w="15875">
            <a:solidFill>
              <a:srgbClr val="2E9A5B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41832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RESPONSE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the action</a:t>
            </a:r>
            <a:endParaRPr lang="en-US" sz="2000" dirty="0"/>
          </a:p>
        </p:txBody>
      </p:sp>
      <p:sp>
        <p:nvSpPr>
          <p:cNvPr id="19" name="pt0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C5D8E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0" name="badge1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2F6FDE"/>
          </a:solidFill>
          <a:ln w="6350">
            <a:solidFill>
              <a:srgbClr val="2F6F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can receive a signal.</a:t>
            </a:r>
            <a:endParaRPr lang="en-US" sz="2200" dirty="0"/>
          </a:p>
        </p:txBody>
      </p:sp>
      <p:sp>
        <p:nvSpPr>
          <p:cNvPr id="23" name="pt1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C5D8E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4" name="badge2"/>
          <p:cNvSpPr/>
          <p:nvPr/>
        </p:nvSpPr>
        <p:spPr>
          <a:xfrm>
            <a:off x="4572000" y="4160520"/>
            <a:ext cx="548640" cy="548640"/>
          </a:xfrm>
          <a:prstGeom prst="ellipse">
            <a:avLst/>
          </a:prstGeom>
          <a:solidFill>
            <a:srgbClr val="6B4BC8"/>
          </a:solidFill>
          <a:ln w="6350">
            <a:solidFill>
              <a:srgbClr val="6B4BC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handler identifies the signal.</a:t>
            </a:r>
            <a:endParaRPr lang="en-US" sz="2200" dirty="0"/>
          </a:p>
        </p:txBody>
      </p:sp>
      <p:sp>
        <p:nvSpPr>
          <p:cNvPr id="27" name="pt2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C5D8E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8" name="badge3"/>
          <p:cNvSpPr/>
          <p:nvPr/>
        </p:nvSpPr>
        <p:spPr>
          <a:xfrm>
            <a:off x="8321040" y="4160520"/>
            <a:ext cx="548640" cy="548640"/>
          </a:xfrm>
          <a:prstGeom prst="ellipse">
            <a:avLst/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210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8321040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performs the required response.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goal0"/>
          <p:cNvSpPr/>
          <p:nvPr/>
        </p:nvSpPr>
        <p:spPr>
          <a:xfrm>
            <a:off x="548640" y="1417320"/>
            <a:ext cx="3566160" cy="2331720"/>
          </a:xfrm>
          <a:prstGeom prst="roundRect">
            <a:avLst>
              <a:gd name="adj" fmla="val 7843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badge1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2F6FDE"/>
          </a:solidFill>
          <a:ln w="6350">
            <a:solidFill>
              <a:srgbClr val="2F6F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and process different Linux signals.</a:t>
            </a:r>
            <a:endParaRPr lang="en-US" sz="2000" dirty="0"/>
          </a:p>
        </p:txBody>
      </p:sp>
      <p:sp>
        <p:nvSpPr>
          <p:cNvPr id="9" name="goal1"/>
          <p:cNvSpPr/>
          <p:nvPr/>
        </p:nvSpPr>
        <p:spPr>
          <a:xfrm>
            <a:off x="4297680" y="1417320"/>
            <a:ext cx="3566160" cy="2331720"/>
          </a:xfrm>
          <a:prstGeom prst="roundRect">
            <a:avLst>
              <a:gd name="adj" fmla="val 7843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0" name="badge2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rgbClr val="6B4BC8"/>
          </a:solidFill>
          <a:ln w="6350">
            <a:solidFill>
              <a:srgbClr val="6B4BC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B4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Signals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SIGUSR1 and SIGUSR2.</a:t>
            </a:r>
            <a:endParaRPr lang="en-US" sz="2000" dirty="0"/>
          </a:p>
        </p:txBody>
      </p:sp>
      <p:sp>
        <p:nvSpPr>
          <p:cNvPr id="14" name="goal2"/>
          <p:cNvSpPr/>
          <p:nvPr/>
        </p:nvSpPr>
        <p:spPr>
          <a:xfrm>
            <a:off x="8046720" y="1417320"/>
            <a:ext cx="3566160" cy="2331720"/>
          </a:xfrm>
          <a:prstGeom prst="roundRect">
            <a:avLst>
              <a:gd name="adj" fmla="val 7843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5" name="badge3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rgbClr val="0E8C8A"/>
          </a:solidFill>
          <a:ln w="6350">
            <a:solidFill>
              <a:srgbClr val="0E8C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Handling</a:t>
            </a:r>
            <a:endParaRPr lang="en-US" sz="25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SIGCHLD when the child process finishes.</a:t>
            </a:r>
            <a:endParaRPr lang="en-US" sz="2000" dirty="0"/>
          </a:p>
        </p:txBody>
      </p:sp>
      <p:sp>
        <p:nvSpPr>
          <p:cNvPr id="19" name="goal3"/>
          <p:cNvSpPr/>
          <p:nvPr/>
        </p:nvSpPr>
        <p:spPr>
          <a:xfrm>
            <a:off x="2423160" y="4023360"/>
            <a:ext cx="3566160" cy="2331720"/>
          </a:xfrm>
          <a:prstGeom prst="roundRect">
            <a:avLst>
              <a:gd name="adj" fmla="val 7843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0" name="badge4"/>
          <p:cNvSpPr/>
          <p:nvPr/>
        </p:nvSpPr>
        <p:spPr>
          <a:xfrm>
            <a:off x="2697480" y="4251960"/>
            <a:ext cx="548640" cy="548640"/>
          </a:xfrm>
          <a:prstGeom prst="ellipse">
            <a:avLst/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2697480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Masking</a:t>
            </a:r>
            <a:endParaRPr lang="en-US" sz="2500" dirty="0"/>
          </a:p>
        </p:txBody>
      </p:sp>
      <p:sp>
        <p:nvSpPr>
          <p:cNvPr id="23" name="Text 20"/>
          <p:cNvSpPr txBox="1"/>
          <p:nvPr/>
        </p:nvSpPr>
        <p:spPr>
          <a:xfrm>
            <a:off x="269748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and later unblock SIGUSR1.</a:t>
            </a:r>
            <a:endParaRPr lang="en-US" sz="2000" dirty="0"/>
          </a:p>
        </p:txBody>
      </p:sp>
      <p:sp>
        <p:nvSpPr>
          <p:cNvPr id="24" name="goal4"/>
          <p:cNvSpPr/>
          <p:nvPr/>
        </p:nvSpPr>
        <p:spPr>
          <a:xfrm>
            <a:off x="6172200" y="4023360"/>
            <a:ext cx="3566160" cy="2331720"/>
          </a:xfrm>
          <a:prstGeom prst="roundRect">
            <a:avLst>
              <a:gd name="adj" fmla="val 7843"/>
            </a:avLst>
          </a:prstGeom>
          <a:solidFill>
            <a:srgbClr val="E1F5E9"/>
          </a:solidFill>
          <a:ln w="15875">
            <a:solidFill>
              <a:srgbClr val="2E9A5B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5" name="badge5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46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Termination</a:t>
            </a:r>
            <a:endParaRPr lang="en-US" sz="2500" dirty="0"/>
          </a:p>
        </p:txBody>
      </p:sp>
      <p:sp>
        <p:nvSpPr>
          <p:cNvPr id="28" name="Text 25"/>
          <p:cNvSpPr txBox="1"/>
          <p:nvPr/>
        </p:nvSpPr>
        <p:spPr>
          <a:xfrm>
            <a:off x="644652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SIGTERM and Ctrl+C safely.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Used in the Framework</a:t>
            </a:r>
            <a:endParaRPr lang="en-US" sz="3600" dirty="0"/>
          </a:p>
        </p:txBody>
      </p:sp>
      <p:sp>
        <p:nvSpPr>
          <p:cNvPr id="4" name="sig0"/>
          <p:cNvSpPr/>
          <p:nvPr/>
        </p:nvSpPr>
        <p:spPr>
          <a:xfrm>
            <a:off x="548640" y="1417320"/>
            <a:ext cx="11064240" cy="822960"/>
          </a:xfrm>
          <a:prstGeom prst="roundRect">
            <a:avLst>
              <a:gd name="adj" fmla="val 22222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pill0"/>
          <p:cNvSpPr/>
          <p:nvPr/>
        </p:nvSpPr>
        <p:spPr>
          <a:xfrm>
            <a:off x="731520" y="1536192"/>
            <a:ext cx="2377440" cy="585216"/>
          </a:xfrm>
          <a:prstGeom prst="roundRect">
            <a:avLst>
              <a:gd name="adj" fmla="val 46875"/>
            </a:avLst>
          </a:prstGeom>
          <a:solidFill>
            <a:srgbClr val="2F6FDE"/>
          </a:solidFill>
          <a:ln w="6350">
            <a:solidFill>
              <a:srgbClr val="2F6F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361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1417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signal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41732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testing signal reception and masking.</a:t>
            </a:r>
            <a:endParaRPr lang="en-US" sz="2000" dirty="0"/>
          </a:p>
        </p:txBody>
      </p:sp>
      <p:sp>
        <p:nvSpPr>
          <p:cNvPr id="9" name="sig1"/>
          <p:cNvSpPr/>
          <p:nvPr/>
        </p:nvSpPr>
        <p:spPr>
          <a:xfrm>
            <a:off x="548640" y="2377440"/>
            <a:ext cx="11064240" cy="822960"/>
          </a:xfrm>
          <a:prstGeom prst="roundRect">
            <a:avLst>
              <a:gd name="adj" fmla="val 22222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0" name="pill1"/>
          <p:cNvSpPr/>
          <p:nvPr/>
        </p:nvSpPr>
        <p:spPr>
          <a:xfrm>
            <a:off x="731520" y="2496312"/>
            <a:ext cx="2377440" cy="585216"/>
          </a:xfrm>
          <a:prstGeom prst="roundRect">
            <a:avLst>
              <a:gd name="adj" fmla="val 46875"/>
            </a:avLst>
          </a:prstGeom>
          <a:solidFill>
            <a:srgbClr val="6B4BC8"/>
          </a:solidFill>
          <a:ln w="6350">
            <a:solidFill>
              <a:srgbClr val="6B4BC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49631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377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4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signal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37744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testing another custom signal.</a:t>
            </a:r>
            <a:endParaRPr lang="en-US" sz="2000" dirty="0"/>
          </a:p>
        </p:txBody>
      </p:sp>
      <p:sp>
        <p:nvSpPr>
          <p:cNvPr id="14" name="sig2"/>
          <p:cNvSpPr/>
          <p:nvPr/>
        </p:nvSpPr>
        <p:spPr>
          <a:xfrm>
            <a:off x="548640" y="3337560"/>
            <a:ext cx="11064240" cy="822960"/>
          </a:xfrm>
          <a:prstGeom prst="roundRect">
            <a:avLst>
              <a:gd name="adj" fmla="val 22222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5" name="pill2"/>
          <p:cNvSpPr/>
          <p:nvPr/>
        </p:nvSpPr>
        <p:spPr>
          <a:xfrm>
            <a:off x="731520" y="3456432"/>
            <a:ext cx="2377440" cy="585216"/>
          </a:xfrm>
          <a:prstGeom prst="roundRect">
            <a:avLst>
              <a:gd name="adj" fmla="val 46875"/>
            </a:avLst>
          </a:prstGeom>
          <a:solidFill>
            <a:srgbClr val="0E8C8A"/>
          </a:solidFill>
          <a:ln w="6350">
            <a:solidFill>
              <a:srgbClr val="0E8C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4564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3337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status signal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333756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child process finishes.</a:t>
            </a:r>
            <a:endParaRPr lang="en-US" sz="2000" dirty="0"/>
          </a:p>
        </p:txBody>
      </p:sp>
      <p:sp>
        <p:nvSpPr>
          <p:cNvPr id="19" name="sig3"/>
          <p:cNvSpPr/>
          <p:nvPr/>
        </p:nvSpPr>
        <p:spPr>
          <a:xfrm>
            <a:off x="548640" y="4297680"/>
            <a:ext cx="11064240" cy="822960"/>
          </a:xfrm>
          <a:prstGeom prst="roundRect">
            <a:avLst>
              <a:gd name="adj" fmla="val 22222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0" name="pill3"/>
          <p:cNvSpPr/>
          <p:nvPr/>
        </p:nvSpPr>
        <p:spPr>
          <a:xfrm>
            <a:off x="731520" y="4416552"/>
            <a:ext cx="2377440" cy="585216"/>
          </a:xfrm>
          <a:prstGeom prst="roundRect">
            <a:avLst>
              <a:gd name="adj" fmla="val 46875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4165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3429000" y="4297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signal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429768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graceful termination.</a:t>
            </a:r>
            <a:endParaRPr lang="en-US" sz="2000" dirty="0"/>
          </a:p>
        </p:txBody>
      </p:sp>
      <p:sp>
        <p:nvSpPr>
          <p:cNvPr id="24" name="sig4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22222"/>
            </a:avLst>
          </a:prstGeom>
          <a:solidFill>
            <a:srgbClr val="E1F5E9"/>
          </a:solidFill>
          <a:ln w="15875">
            <a:solidFill>
              <a:srgbClr val="2E9A5B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5" name="pill4"/>
          <p:cNvSpPr/>
          <p:nvPr/>
        </p:nvSpPr>
        <p:spPr>
          <a:xfrm>
            <a:off x="731520" y="5376672"/>
            <a:ext cx="2377440" cy="585216"/>
          </a:xfrm>
          <a:prstGeom prst="roundRect">
            <a:avLst>
              <a:gd name="adj" fmla="val 46875"/>
            </a:avLst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3766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3429000" y="5257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signal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6309360" y="525780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Ctrl+C.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userbox"/>
          <p:cNvSpPr/>
          <p:nvPr/>
        </p:nvSpPr>
        <p:spPr>
          <a:xfrm>
            <a:off x="548640" y="1417320"/>
            <a:ext cx="2926080" cy="4663440"/>
          </a:xfrm>
          <a:prstGeom prst="roundRect">
            <a:avLst>
              <a:gd name="adj" fmla="val 6250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TERMINAL</a:t>
            </a:r>
            <a:endParaRPr lang="en-US" sz="2300" dirty="0"/>
          </a:p>
        </p:txBody>
      </p:sp>
      <p:sp>
        <p:nvSpPr>
          <p:cNvPr id="6" name="cmd0"/>
          <p:cNvSpPr/>
          <p:nvPr/>
        </p:nvSpPr>
        <p:spPr>
          <a:xfrm>
            <a:off x="731520" y="2331720"/>
            <a:ext cx="25603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-USR1 PID</a:t>
            </a:r>
            <a:endParaRPr lang="en-US" sz="1800" dirty="0"/>
          </a:p>
        </p:txBody>
      </p:sp>
      <p:sp>
        <p:nvSpPr>
          <p:cNvPr id="8" name="cmd1"/>
          <p:cNvSpPr/>
          <p:nvPr/>
        </p:nvSpPr>
        <p:spPr>
          <a:xfrm>
            <a:off x="731520" y="3246120"/>
            <a:ext cx="25603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246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-USR2 PID</a:t>
            </a:r>
            <a:endParaRPr lang="en-US" sz="1800" dirty="0"/>
          </a:p>
        </p:txBody>
      </p:sp>
      <p:sp>
        <p:nvSpPr>
          <p:cNvPr id="10" name="cmd2"/>
          <p:cNvSpPr/>
          <p:nvPr/>
        </p:nvSpPr>
        <p:spPr>
          <a:xfrm>
            <a:off x="731520" y="4160520"/>
            <a:ext cx="25603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160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-TERM PID</a:t>
            </a:r>
            <a:endParaRPr lang="en-US" sz="1800" dirty="0"/>
          </a:p>
        </p:txBody>
      </p:sp>
      <p:sp>
        <p:nvSpPr>
          <p:cNvPr id="12" name="cmd3"/>
          <p:cNvSpPr/>
          <p:nvPr/>
        </p:nvSpPr>
        <p:spPr>
          <a:xfrm>
            <a:off x="731520" y="5074920"/>
            <a:ext cx="25603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50749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Ctrl+C</a:t>
            </a:r>
            <a:endParaRPr lang="en-US" sz="2000" dirty="0"/>
          </a:p>
        </p:txBody>
      </p:sp>
      <p:sp>
        <p:nvSpPr>
          <p:cNvPr id="14" name="parentbox"/>
          <p:cNvSpPr/>
          <p:nvPr/>
        </p:nvSpPr>
        <p:spPr>
          <a:xfrm>
            <a:off x="4480560" y="1417320"/>
            <a:ext cx="3200400" cy="4663440"/>
          </a:xfrm>
          <a:prstGeom prst="roundRect">
            <a:avLst>
              <a:gd name="adj" fmla="val 5714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48056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4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2300" dirty="0"/>
          </a:p>
        </p:txBody>
      </p:sp>
      <p:sp>
        <p:nvSpPr>
          <p:cNvPr id="16" name="par0"/>
          <p:cNvSpPr/>
          <p:nvPr/>
        </p:nvSpPr>
        <p:spPr>
          <a:xfrm>
            <a:off x="4663440" y="2331720"/>
            <a:ext cx="28346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BC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Handlers</a:t>
            </a:r>
            <a:endParaRPr lang="en-US" sz="2000" dirty="0"/>
          </a:p>
        </p:txBody>
      </p:sp>
      <p:sp>
        <p:nvSpPr>
          <p:cNvPr id="18" name="par1"/>
          <p:cNvSpPr/>
          <p:nvPr/>
        </p:nvSpPr>
        <p:spPr>
          <a:xfrm>
            <a:off x="4663440" y="3246120"/>
            <a:ext cx="28346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BC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6344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</a:t>
            </a:r>
            <a:endParaRPr lang="en-US" sz="2000" dirty="0"/>
          </a:p>
        </p:txBody>
      </p:sp>
      <p:sp>
        <p:nvSpPr>
          <p:cNvPr id="20" name="par2"/>
          <p:cNvSpPr/>
          <p:nvPr/>
        </p:nvSpPr>
        <p:spPr>
          <a:xfrm>
            <a:off x="4663440" y="4160520"/>
            <a:ext cx="28346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BC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63440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Masking</a:t>
            </a:r>
            <a:endParaRPr lang="en-US" sz="2000" dirty="0"/>
          </a:p>
        </p:txBody>
      </p:sp>
      <p:sp>
        <p:nvSpPr>
          <p:cNvPr id="22" name="par3"/>
          <p:cNvSpPr/>
          <p:nvPr/>
        </p:nvSpPr>
        <p:spPr>
          <a:xfrm>
            <a:off x="4663440" y="5074920"/>
            <a:ext cx="28346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BC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63440" y="5074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2000" dirty="0"/>
          </a:p>
        </p:txBody>
      </p:sp>
      <p:sp>
        <p:nvSpPr>
          <p:cNvPr id="24" name="childbox"/>
          <p:cNvSpPr/>
          <p:nvPr/>
        </p:nvSpPr>
        <p:spPr>
          <a:xfrm>
            <a:off x="8869680" y="1417320"/>
            <a:ext cx="2743200" cy="4663440"/>
          </a:xfrm>
          <a:prstGeom prst="roundRect">
            <a:avLst>
              <a:gd name="adj" fmla="val 6667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8696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</a:t>
            </a:r>
            <a:endParaRPr lang="en-US" sz="2300" dirty="0"/>
          </a:p>
        </p:txBody>
      </p:sp>
      <p:sp>
        <p:nvSpPr>
          <p:cNvPr id="26" name="ch0"/>
          <p:cNvSpPr/>
          <p:nvPr/>
        </p:nvSpPr>
        <p:spPr>
          <a:xfrm>
            <a:off x="9052560" y="2331720"/>
            <a:ext cx="23774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E8C8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5256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fork()</a:t>
            </a:r>
            <a:endParaRPr lang="en-US" sz="2000" dirty="0"/>
          </a:p>
        </p:txBody>
      </p:sp>
      <p:sp>
        <p:nvSpPr>
          <p:cNvPr id="28" name="ch1"/>
          <p:cNvSpPr/>
          <p:nvPr/>
        </p:nvSpPr>
        <p:spPr>
          <a:xfrm>
            <a:off x="9052560" y="3246120"/>
            <a:ext cx="23774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E8C8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5256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briefly</a:t>
            </a:r>
            <a:endParaRPr lang="en-US" sz="2000" dirty="0"/>
          </a:p>
        </p:txBody>
      </p:sp>
      <p:sp>
        <p:nvSpPr>
          <p:cNvPr id="30" name="ch2"/>
          <p:cNvSpPr/>
          <p:nvPr/>
        </p:nvSpPr>
        <p:spPr>
          <a:xfrm>
            <a:off x="9052560" y="4160520"/>
            <a:ext cx="23774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E8C8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5256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</a:t>
            </a:r>
            <a:endParaRPr lang="en-US" sz="2000" dirty="0"/>
          </a:p>
        </p:txBody>
      </p:sp>
      <p:sp>
        <p:nvSpPr>
          <p:cNvPr id="32" name="ch3"/>
          <p:cNvSpPr/>
          <p:nvPr/>
        </p:nvSpPr>
        <p:spPr>
          <a:xfrm>
            <a:off x="9052560" y="5074920"/>
            <a:ext cx="23774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E8C8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5256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SIGCHLD</a:t>
            </a:r>
            <a:endParaRPr lang="en-US" sz="2000" dirty="0"/>
          </a:p>
        </p:txBody>
      </p:sp>
      <p:sp>
        <p:nvSpPr>
          <p:cNvPr id="34" name="arrow"/>
          <p:cNvSpPr/>
          <p:nvPr/>
        </p:nvSpPr>
        <p:spPr>
          <a:xfrm>
            <a:off x="3520440" y="3749040"/>
            <a:ext cx="91440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3474720" y="3291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800" dirty="0"/>
          </a:p>
        </p:txBody>
      </p:sp>
      <p:sp>
        <p:nvSpPr>
          <p:cNvPr id="36" name="arrow"/>
          <p:cNvSpPr/>
          <p:nvPr/>
        </p:nvSpPr>
        <p:spPr>
          <a:xfrm>
            <a:off x="7726680" y="3017520"/>
            <a:ext cx="109728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768096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5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800" dirty="0"/>
          </a:p>
        </p:txBody>
      </p:sp>
      <p:sp>
        <p:nvSpPr>
          <p:cNvPr id="38" name="arrow"/>
          <p:cNvSpPr/>
          <p:nvPr/>
        </p:nvSpPr>
        <p:spPr>
          <a:xfrm flipH="1">
            <a:off x="7726680" y="4846320"/>
            <a:ext cx="1097280" cy="0"/>
          </a:xfrm>
          <a:prstGeom prst="line">
            <a:avLst/>
          </a:prstGeom>
          <a:noFill/>
          <a:ln w="4445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39" name="Text 36"/>
          <p:cNvSpPr txBox="1"/>
          <p:nvPr/>
        </p:nvSpPr>
        <p:spPr>
          <a:xfrm>
            <a:off x="7680960" y="4389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3600" dirty="0"/>
          </a:p>
        </p:txBody>
      </p:sp>
      <p:sp>
        <p:nvSpPr>
          <p:cNvPr id="4" name="flow0"/>
          <p:cNvSpPr/>
          <p:nvPr/>
        </p:nvSpPr>
        <p:spPr>
          <a:xfrm>
            <a:off x="548640" y="141732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E1F5E9"/>
          </a:solidFill>
          <a:ln w="15875">
            <a:solidFill>
              <a:srgbClr val="2E9A5B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2600" dirty="0"/>
          </a:p>
        </p:txBody>
      </p:sp>
      <p:sp>
        <p:nvSpPr>
          <p:cNvPr id="6" name="arrow"/>
          <p:cNvSpPr/>
          <p:nvPr/>
        </p:nvSpPr>
        <p:spPr>
          <a:xfrm>
            <a:off x="3703320" y="2034540"/>
            <a:ext cx="7772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7" name="flow1"/>
          <p:cNvSpPr/>
          <p:nvPr/>
        </p:nvSpPr>
        <p:spPr>
          <a:xfrm>
            <a:off x="4526280" y="141732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61772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Signal Handlers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61772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signal()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7680960" y="2034540"/>
            <a:ext cx="7772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1" name="flow2"/>
          <p:cNvSpPr/>
          <p:nvPr/>
        </p:nvSpPr>
        <p:spPr>
          <a:xfrm>
            <a:off x="8503920" y="141732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59536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Child Process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800" dirty="0"/>
          </a:p>
        </p:txBody>
      </p:sp>
      <p:sp>
        <p:nvSpPr>
          <p:cNvPr id="14" name="arrow"/>
          <p:cNvSpPr/>
          <p:nvPr/>
        </p:nvSpPr>
        <p:spPr>
          <a:xfrm>
            <a:off x="10058400" y="2688336"/>
            <a:ext cx="0" cy="429768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5" name="flow3"/>
          <p:cNvSpPr/>
          <p:nvPr/>
        </p:nvSpPr>
        <p:spPr>
          <a:xfrm>
            <a:off x="8503920" y="315468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9536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SIGUSR1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sigprocmask()</a:t>
            </a:r>
            <a:endParaRPr lang="en-US" sz="1800" dirty="0"/>
          </a:p>
        </p:txBody>
      </p:sp>
      <p:sp>
        <p:nvSpPr>
          <p:cNvPr id="18" name="arrow"/>
          <p:cNvSpPr/>
          <p:nvPr/>
        </p:nvSpPr>
        <p:spPr>
          <a:xfrm flipH="1">
            <a:off x="7680960" y="3771900"/>
            <a:ext cx="7772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9" name="flow4"/>
          <p:cNvSpPr/>
          <p:nvPr/>
        </p:nvSpPr>
        <p:spPr>
          <a:xfrm>
            <a:off x="4526280" y="315468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61772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10 Seconds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6177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sleep()</a:t>
            </a:r>
            <a:endParaRPr lang="en-US" sz="1800" dirty="0"/>
          </a:p>
        </p:txBody>
      </p:sp>
      <p:sp>
        <p:nvSpPr>
          <p:cNvPr id="22" name="arrow"/>
          <p:cNvSpPr/>
          <p:nvPr/>
        </p:nvSpPr>
        <p:spPr>
          <a:xfrm flipH="1">
            <a:off x="3703320" y="3771900"/>
            <a:ext cx="7772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23" name="flow5"/>
          <p:cNvSpPr/>
          <p:nvPr/>
        </p:nvSpPr>
        <p:spPr>
          <a:xfrm>
            <a:off x="548640" y="315468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008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SIGUSR1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sigprocmask()</a:t>
            </a:r>
            <a:endParaRPr lang="en-US" sz="1800" dirty="0"/>
          </a:p>
        </p:txBody>
      </p:sp>
      <p:sp>
        <p:nvSpPr>
          <p:cNvPr id="26" name="arrow"/>
          <p:cNvSpPr/>
          <p:nvPr/>
        </p:nvSpPr>
        <p:spPr>
          <a:xfrm>
            <a:off x="2103120" y="4425696"/>
            <a:ext cx="0" cy="429768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27" name="flow6"/>
          <p:cNvSpPr/>
          <p:nvPr/>
        </p:nvSpPr>
        <p:spPr>
          <a:xfrm>
            <a:off x="548640" y="489204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40080" y="48920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Signals</a:t>
            </a:r>
            <a:endParaRPr lang="en-US" sz="2200" dirty="0"/>
          </a:p>
        </p:txBody>
      </p:sp>
      <p:sp>
        <p:nvSpPr>
          <p:cNvPr id="29" name="arrow"/>
          <p:cNvSpPr/>
          <p:nvPr/>
        </p:nvSpPr>
        <p:spPr>
          <a:xfrm>
            <a:off x="3703320" y="5509260"/>
            <a:ext cx="7772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30" name="flow7"/>
          <p:cNvSpPr/>
          <p:nvPr/>
        </p:nvSpPr>
        <p:spPr>
          <a:xfrm>
            <a:off x="4526280" y="489204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4617720" y="48920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Signal</a:t>
            </a:r>
            <a:endParaRPr lang="en-US" sz="2200" dirty="0"/>
          </a:p>
        </p:txBody>
      </p:sp>
      <p:sp>
        <p:nvSpPr>
          <p:cNvPr id="32" name="arrow"/>
          <p:cNvSpPr/>
          <p:nvPr/>
        </p:nvSpPr>
        <p:spPr>
          <a:xfrm>
            <a:off x="7680960" y="5509260"/>
            <a:ext cx="77724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33" name="flow8"/>
          <p:cNvSpPr/>
          <p:nvPr/>
        </p:nvSpPr>
        <p:spPr>
          <a:xfrm>
            <a:off x="8503920" y="4892040"/>
            <a:ext cx="3108960" cy="1234440"/>
          </a:xfrm>
          <a:prstGeom prst="roundRect">
            <a:avLst>
              <a:gd name="adj" fmla="val 14815"/>
            </a:avLst>
          </a:prstGeom>
          <a:solidFill>
            <a:srgbClr val="E1F5E9"/>
          </a:solidFill>
          <a:ln w="15875">
            <a:solidFill>
              <a:srgbClr val="2E9A5B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595360" y="5074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Termination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8595360" y="562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Masking: Block → Pending → Handle</a:t>
            </a:r>
            <a:endParaRPr lang="en-US" sz="3600" dirty="0"/>
          </a:p>
        </p:txBody>
      </p:sp>
      <p:sp>
        <p:nvSpPr>
          <p:cNvPr id="4" name="mask0"/>
          <p:cNvSpPr/>
          <p:nvPr/>
        </p:nvSpPr>
        <p:spPr>
          <a:xfrm>
            <a:off x="548640" y="1463040"/>
            <a:ext cx="1920240" cy="3200400"/>
          </a:xfrm>
          <a:prstGeom prst="roundRect">
            <a:avLst>
              <a:gd name="adj" fmla="val 9524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badge1"/>
          <p:cNvSpPr/>
          <p:nvPr/>
        </p:nvSpPr>
        <p:spPr>
          <a:xfrm>
            <a:off x="1234440" y="1691640"/>
            <a:ext cx="548640" cy="548640"/>
          </a:xfrm>
          <a:prstGeom prst="ellipse">
            <a:avLst/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34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718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 is blocked</a:t>
            </a:r>
            <a:endParaRPr lang="en-US" sz="2000" dirty="0"/>
          </a:p>
        </p:txBody>
      </p:sp>
      <p:sp>
        <p:nvSpPr>
          <p:cNvPr id="9" name="arrow"/>
          <p:cNvSpPr/>
          <p:nvPr/>
        </p:nvSpPr>
        <p:spPr>
          <a:xfrm>
            <a:off x="2514600" y="3063240"/>
            <a:ext cx="27432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0" name="mask1"/>
          <p:cNvSpPr/>
          <p:nvPr/>
        </p:nvSpPr>
        <p:spPr>
          <a:xfrm>
            <a:off x="2834640" y="1463040"/>
            <a:ext cx="1920240" cy="3200400"/>
          </a:xfrm>
          <a:prstGeom prst="roundRect">
            <a:avLst>
              <a:gd name="adj" fmla="val 9524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1" name="badge2"/>
          <p:cNvSpPr/>
          <p:nvPr/>
        </p:nvSpPr>
        <p:spPr>
          <a:xfrm>
            <a:off x="3520440" y="1691640"/>
            <a:ext cx="548640" cy="548640"/>
          </a:xfrm>
          <a:prstGeom prst="ellipse">
            <a:avLst/>
          </a:prstGeom>
          <a:solidFill>
            <a:srgbClr val="2F6FDE"/>
          </a:solidFill>
          <a:ln w="6350">
            <a:solidFill>
              <a:srgbClr val="2F6F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9718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-USR1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&lt;PID&gt;</a:t>
            </a:r>
            <a:endParaRPr lang="en-US" sz="2000" dirty="0"/>
          </a:p>
        </p:txBody>
      </p:sp>
      <p:sp>
        <p:nvSpPr>
          <p:cNvPr id="15" name="arrow"/>
          <p:cNvSpPr/>
          <p:nvPr/>
        </p:nvSpPr>
        <p:spPr>
          <a:xfrm>
            <a:off x="4800600" y="3063240"/>
            <a:ext cx="27432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16" name="mask2"/>
          <p:cNvSpPr/>
          <p:nvPr/>
        </p:nvSpPr>
        <p:spPr>
          <a:xfrm>
            <a:off x="5120640" y="1463040"/>
            <a:ext cx="1920240" cy="3200400"/>
          </a:xfrm>
          <a:prstGeom prst="roundRect">
            <a:avLst>
              <a:gd name="adj" fmla="val 9524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7" name="badge3"/>
          <p:cNvSpPr/>
          <p:nvPr/>
        </p:nvSpPr>
        <p:spPr>
          <a:xfrm>
            <a:off x="5806440" y="1691640"/>
            <a:ext cx="548640" cy="548640"/>
          </a:xfrm>
          <a:prstGeom prst="ellipse">
            <a:avLst/>
          </a:prstGeom>
          <a:solidFill>
            <a:srgbClr val="6B4BC8"/>
          </a:solidFill>
          <a:ln w="6350">
            <a:solidFill>
              <a:srgbClr val="6B4BC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06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4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5257800" y="29718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waits because it is blocked</a:t>
            </a:r>
            <a:endParaRPr lang="en-US" sz="2000" dirty="0"/>
          </a:p>
        </p:txBody>
      </p:sp>
      <p:sp>
        <p:nvSpPr>
          <p:cNvPr id="21" name="arrow"/>
          <p:cNvSpPr/>
          <p:nvPr/>
        </p:nvSpPr>
        <p:spPr>
          <a:xfrm>
            <a:off x="7086600" y="3063240"/>
            <a:ext cx="27432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22" name="mask3"/>
          <p:cNvSpPr/>
          <p:nvPr/>
        </p:nvSpPr>
        <p:spPr>
          <a:xfrm>
            <a:off x="7406640" y="1463040"/>
            <a:ext cx="1920240" cy="3200400"/>
          </a:xfrm>
          <a:prstGeom prst="roundRect">
            <a:avLst>
              <a:gd name="adj" fmla="val 9524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3" name="badge4"/>
          <p:cNvSpPr/>
          <p:nvPr/>
        </p:nvSpPr>
        <p:spPr>
          <a:xfrm>
            <a:off x="8092440" y="1691640"/>
            <a:ext cx="548640" cy="548640"/>
          </a:xfrm>
          <a:prstGeom prst="ellipse">
            <a:avLst/>
          </a:prstGeom>
          <a:solidFill>
            <a:srgbClr val="0E8C8A"/>
          </a:solidFill>
          <a:ln w="6350">
            <a:solidFill>
              <a:srgbClr val="0E8C8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92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7543800" y="29718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seconds</a:t>
            </a:r>
            <a:endParaRPr lang="en-US" sz="2000" dirty="0"/>
          </a:p>
        </p:txBody>
      </p:sp>
      <p:sp>
        <p:nvSpPr>
          <p:cNvPr id="27" name="arrow"/>
          <p:cNvSpPr/>
          <p:nvPr/>
        </p:nvSpPr>
        <p:spPr>
          <a:xfrm>
            <a:off x="9372600" y="3063240"/>
            <a:ext cx="27432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28" name="mask4"/>
          <p:cNvSpPr/>
          <p:nvPr/>
        </p:nvSpPr>
        <p:spPr>
          <a:xfrm>
            <a:off x="9692640" y="1463040"/>
            <a:ext cx="1920240" cy="3200400"/>
          </a:xfrm>
          <a:prstGeom prst="roundRect">
            <a:avLst>
              <a:gd name="adj" fmla="val 9524"/>
            </a:avLst>
          </a:prstGeom>
          <a:solidFill>
            <a:srgbClr val="E1F5E9"/>
          </a:solidFill>
          <a:ln w="15875">
            <a:solidFill>
              <a:srgbClr val="2E9A5B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9" name="badge5"/>
          <p:cNvSpPr/>
          <p:nvPr/>
        </p:nvSpPr>
        <p:spPr>
          <a:xfrm>
            <a:off x="10378440" y="1691640"/>
            <a:ext cx="548640" cy="548640"/>
          </a:xfrm>
          <a:prstGeom prst="ellipse">
            <a:avLst/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378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978408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9829800" y="29718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 handler runs</a:t>
            </a:r>
            <a:endParaRPr lang="en-US" sz="2000" dirty="0"/>
          </a:p>
        </p:txBody>
      </p:sp>
      <p:sp>
        <p:nvSpPr>
          <p:cNvPr id="33" name="keymsg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20833"/>
            </a:avLst>
          </a:prstGeom>
          <a:solidFill>
            <a:srgbClr val="1B2F55"/>
          </a:solidFill>
          <a:ln w="6350">
            <a:solidFill>
              <a:srgbClr val="1B2F55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 is not lost — it waits until the block is removed.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Calls</a:t>
            </a:r>
            <a:endParaRPr lang="en-US" sz="3600" dirty="0"/>
          </a:p>
        </p:txBody>
      </p:sp>
      <p:sp>
        <p:nvSpPr>
          <p:cNvPr id="4" name="call0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9524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signal()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40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signal handlers</a:t>
            </a:r>
            <a:endParaRPr lang="en-US" sz="2000" dirty="0"/>
          </a:p>
        </p:txBody>
      </p:sp>
      <p:sp>
        <p:nvSpPr>
          <p:cNvPr id="7" name="call1"/>
          <p:cNvSpPr/>
          <p:nvPr/>
        </p:nvSpPr>
        <p:spPr>
          <a:xfrm>
            <a:off x="4297680" y="1371600"/>
            <a:ext cx="3566160" cy="1920240"/>
          </a:xfrm>
          <a:prstGeom prst="roundRect">
            <a:avLst>
              <a:gd name="adj" fmla="val 9524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240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child process</a:t>
            </a:r>
            <a:endParaRPr lang="en-US" sz="2000" dirty="0"/>
          </a:p>
        </p:txBody>
      </p:sp>
      <p:sp>
        <p:nvSpPr>
          <p:cNvPr id="10" name="call2"/>
          <p:cNvSpPr/>
          <p:nvPr/>
        </p:nvSpPr>
        <p:spPr>
          <a:xfrm>
            <a:off x="8046720" y="1371600"/>
            <a:ext cx="3566160" cy="1920240"/>
          </a:xfrm>
          <a:prstGeom prst="roundRect">
            <a:avLst>
              <a:gd name="adj" fmla="val 9524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32104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sigprocmask()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240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unblock signals</a:t>
            </a:r>
            <a:endParaRPr lang="en-US" sz="2000" dirty="0"/>
          </a:p>
        </p:txBody>
      </p:sp>
      <p:sp>
        <p:nvSpPr>
          <p:cNvPr id="13" name="call3"/>
          <p:cNvSpPr/>
          <p:nvPr/>
        </p:nvSpPr>
        <p:spPr>
          <a:xfrm>
            <a:off x="548640" y="3520440"/>
            <a:ext cx="3566160" cy="1920240"/>
          </a:xfrm>
          <a:prstGeom prst="roundRect">
            <a:avLst>
              <a:gd name="adj" fmla="val 9524"/>
            </a:avLst>
          </a:prstGeom>
          <a:solidFill>
            <a:srgbClr val="E1F5E9"/>
          </a:solidFill>
          <a:ln w="15875">
            <a:solidFill>
              <a:srgbClr val="2E9A5B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9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389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 the child process</a:t>
            </a:r>
            <a:endParaRPr lang="en-US" sz="2000" dirty="0"/>
          </a:p>
        </p:txBody>
      </p:sp>
      <p:sp>
        <p:nvSpPr>
          <p:cNvPr id="16" name="call4"/>
          <p:cNvSpPr/>
          <p:nvPr/>
        </p:nvSpPr>
        <p:spPr>
          <a:xfrm>
            <a:off x="4297680" y="3520440"/>
            <a:ext cx="3566160" cy="1920240"/>
          </a:xfrm>
          <a:prstGeom prst="roundRect">
            <a:avLst>
              <a:gd name="adj" fmla="val 9524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7200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389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signals for testing</a:t>
            </a:r>
            <a:endParaRPr lang="en-US" sz="2000" dirty="0"/>
          </a:p>
        </p:txBody>
      </p:sp>
      <p:sp>
        <p:nvSpPr>
          <p:cNvPr id="19" name="call5"/>
          <p:cNvSpPr/>
          <p:nvPr/>
        </p:nvSpPr>
        <p:spPr>
          <a:xfrm>
            <a:off x="8046720" y="3520440"/>
            <a:ext cx="3566160" cy="1920240"/>
          </a:xfrm>
          <a:prstGeom prst="roundRect">
            <a:avLst>
              <a:gd name="adj" fmla="val 9524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32104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389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signal/process system calls</a:t>
            </a:r>
            <a:endParaRPr lang="en-US" sz="2000" dirty="0"/>
          </a:p>
        </p:txBody>
      </p:sp>
      <p:sp>
        <p:nvSpPr>
          <p:cNvPr id="22" name="chain"/>
          <p:cNvSpPr/>
          <p:nvPr/>
        </p:nvSpPr>
        <p:spPr>
          <a:xfrm>
            <a:off x="548640" y="5760720"/>
            <a:ext cx="1106424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5D8E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signal()  →  fork()  →  sigprocmask()  →  waitpid()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Framework</a:t>
            </a:r>
            <a:endParaRPr lang="en-US" sz="3600" dirty="0"/>
          </a:p>
        </p:txBody>
      </p:sp>
      <p:sp>
        <p:nvSpPr>
          <p:cNvPr id="4" name="termTERMINAL 1"/>
          <p:cNvSpPr/>
          <p:nvPr/>
        </p:nvSpPr>
        <p:spPr>
          <a:xfrm>
            <a:off x="548640" y="1371600"/>
            <a:ext cx="5120640" cy="3840480"/>
          </a:xfrm>
          <a:prstGeom prst="roundRect">
            <a:avLst>
              <a:gd name="adj" fmla="val 4762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508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1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6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</a:t>
            </a:r>
            <a:endParaRPr lang="en-US" sz="2000" dirty="0"/>
          </a:p>
        </p:txBody>
      </p:sp>
      <p:sp>
        <p:nvSpPr>
          <p:cNvPr id="7" name="termTERMINAL 2"/>
          <p:cNvSpPr/>
          <p:nvPr/>
        </p:nvSpPr>
        <p:spPr>
          <a:xfrm>
            <a:off x="6492240" y="1371600"/>
            <a:ext cx="5120640" cy="3840480"/>
          </a:xfrm>
          <a:prstGeom prst="roundRect">
            <a:avLst>
              <a:gd name="adj" fmla="val 4762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92240" y="1508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4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6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signals</a:t>
            </a:r>
            <a:endParaRPr lang="en-US" sz="2000" dirty="0"/>
          </a:p>
        </p:txBody>
      </p:sp>
      <p:sp>
        <p:nvSpPr>
          <p:cNvPr id="10" name="runmake"/>
          <p:cNvSpPr/>
          <p:nvPr/>
        </p:nvSpPr>
        <p:spPr>
          <a:xfrm>
            <a:off x="914400" y="2697480"/>
            <a:ext cx="43891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697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2200" dirty="0"/>
          </a:p>
        </p:txBody>
      </p:sp>
      <p:sp>
        <p:nvSpPr>
          <p:cNvPr id="12" name="run./signal_framework"/>
          <p:cNvSpPr/>
          <p:nvPr/>
        </p:nvSpPr>
        <p:spPr>
          <a:xfrm>
            <a:off x="914400" y="3566160"/>
            <a:ext cx="43891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./signal_framework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434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parent PID</a:t>
            </a:r>
            <a:endParaRPr lang="en-US" sz="2200" dirty="0"/>
          </a:p>
        </p:txBody>
      </p:sp>
      <p:sp>
        <p:nvSpPr>
          <p:cNvPr id="15" name="runkill -USR1 &lt;PID&gt;"/>
          <p:cNvSpPr/>
          <p:nvPr/>
        </p:nvSpPr>
        <p:spPr>
          <a:xfrm>
            <a:off x="6858000" y="2697480"/>
            <a:ext cx="43891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B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2697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-USR1 &lt;PID&gt;</a:t>
            </a:r>
            <a:endParaRPr lang="en-US" sz="2200" dirty="0"/>
          </a:p>
        </p:txBody>
      </p:sp>
      <p:sp>
        <p:nvSpPr>
          <p:cNvPr id="17" name="runkill -USR2 &lt;PID&gt;"/>
          <p:cNvSpPr/>
          <p:nvPr/>
        </p:nvSpPr>
        <p:spPr>
          <a:xfrm>
            <a:off x="6858000" y="3566160"/>
            <a:ext cx="43891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BC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-USR2 &lt;PID&gt;</a:t>
            </a:r>
            <a:endParaRPr lang="en-US" sz="2200" dirty="0"/>
          </a:p>
        </p:txBody>
      </p:sp>
      <p:sp>
        <p:nvSpPr>
          <p:cNvPr id="19" name="runkill -TERM &lt;PID&gt;"/>
          <p:cNvSpPr/>
          <p:nvPr/>
        </p:nvSpPr>
        <p:spPr>
          <a:xfrm>
            <a:off x="6858000" y="4434840"/>
            <a:ext cx="438912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BC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44348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-TERM &lt;PID&gt;</a:t>
            </a:r>
            <a:endParaRPr lang="en-US" sz="2200" dirty="0"/>
          </a:p>
        </p:txBody>
      </p:sp>
      <p:sp>
        <p:nvSpPr>
          <p:cNvPr id="21" name="arrow"/>
          <p:cNvSpPr/>
          <p:nvPr/>
        </p:nvSpPr>
        <p:spPr>
          <a:xfrm>
            <a:off x="5715000" y="3291840"/>
            <a:ext cx="731520" cy="0"/>
          </a:xfrm>
          <a:prstGeom prst="line">
            <a:avLst/>
          </a:prstGeom>
          <a:noFill/>
          <a:ln w="44450">
            <a:solidFill>
              <a:srgbClr val="1B2F55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566928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6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2000" dirty="0"/>
          </a:p>
        </p:txBody>
      </p:sp>
      <p:sp>
        <p:nvSpPr>
          <p:cNvPr id="23" name="runnote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C5D8E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in Terminal 1 also ends the program gracefully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Framework</a:t>
            </a:r>
            <a:endParaRPr lang="en-US" sz="3600" dirty="0"/>
          </a:p>
        </p:txBody>
      </p:sp>
      <p:sp>
        <p:nvSpPr>
          <p:cNvPr id="4" name="test0"/>
          <p:cNvSpPr/>
          <p:nvPr/>
        </p:nvSpPr>
        <p:spPr>
          <a:xfrm>
            <a:off x="548640" y="1325880"/>
            <a:ext cx="5394960" cy="1783080"/>
          </a:xfrm>
          <a:prstGeom prst="roundRect">
            <a:avLst>
              <a:gd name="adj" fmla="val 10256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tb0"/>
          <p:cNvSpPr/>
          <p:nvPr/>
        </p:nvSpPr>
        <p:spPr>
          <a:xfrm>
            <a:off x="777240" y="15544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2F6FDE"/>
          </a:solidFill>
          <a:ln w="6350">
            <a:solidFill>
              <a:srgbClr val="2F6F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554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-USR1 &lt;PID&gt;</a:t>
            </a:r>
            <a:endParaRPr lang="en-US" sz="2000" dirty="0"/>
          </a:p>
        </p:txBody>
      </p:sp>
      <p:sp>
        <p:nvSpPr>
          <p:cNvPr id="8" name="ok0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286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 received successfully.</a:t>
            </a:r>
            <a:endParaRPr lang="en-US" sz="2200" dirty="0"/>
          </a:p>
        </p:txBody>
      </p:sp>
      <p:sp>
        <p:nvSpPr>
          <p:cNvPr id="11" name="test1"/>
          <p:cNvSpPr/>
          <p:nvPr/>
        </p:nvSpPr>
        <p:spPr>
          <a:xfrm>
            <a:off x="6217920" y="1325880"/>
            <a:ext cx="5394960" cy="1783080"/>
          </a:xfrm>
          <a:prstGeom prst="roundRect">
            <a:avLst>
              <a:gd name="adj" fmla="val 10256"/>
            </a:avLst>
          </a:prstGeom>
          <a:solidFill>
            <a:srgbClr val="EEE8FB"/>
          </a:solidFill>
          <a:ln w="15875">
            <a:solidFill>
              <a:srgbClr val="6B4BC8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2" name="tb1"/>
          <p:cNvSpPr/>
          <p:nvPr/>
        </p:nvSpPr>
        <p:spPr>
          <a:xfrm>
            <a:off x="6446520" y="15544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6B4BC8"/>
          </a:solidFill>
          <a:ln w="6350">
            <a:solidFill>
              <a:srgbClr val="6B4B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1554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-USR2 &lt;PID&gt;</a:t>
            </a:r>
            <a:endParaRPr lang="en-US" sz="2000" dirty="0"/>
          </a:p>
        </p:txBody>
      </p:sp>
      <p:sp>
        <p:nvSpPr>
          <p:cNvPr id="15" name="ok1"/>
          <p:cNvSpPr/>
          <p:nvPr/>
        </p:nvSpPr>
        <p:spPr>
          <a:xfrm>
            <a:off x="6446520" y="2331720"/>
            <a:ext cx="457200" cy="457200"/>
          </a:xfrm>
          <a:prstGeom prst="ellipse">
            <a:avLst/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2286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SIGUSR2 received successfully.</a:t>
            </a:r>
            <a:endParaRPr lang="en-US" sz="2200" dirty="0"/>
          </a:p>
        </p:txBody>
      </p:sp>
      <p:sp>
        <p:nvSpPr>
          <p:cNvPr id="18" name="test2"/>
          <p:cNvSpPr/>
          <p:nvPr/>
        </p:nvSpPr>
        <p:spPr>
          <a:xfrm>
            <a:off x="548640" y="3291840"/>
            <a:ext cx="5394960" cy="1783080"/>
          </a:xfrm>
          <a:prstGeom prst="roundRect">
            <a:avLst>
              <a:gd name="adj" fmla="val 10256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9" name="tb2"/>
          <p:cNvSpPr/>
          <p:nvPr/>
        </p:nvSpPr>
        <p:spPr>
          <a:xfrm>
            <a:off x="777240" y="35204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0E8C8A"/>
          </a:solidFill>
          <a:ln w="6350">
            <a:solidFill>
              <a:srgbClr val="0E8C8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520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2743200" y="3520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finishes</a:t>
            </a:r>
            <a:endParaRPr lang="en-US" sz="2000" dirty="0"/>
          </a:p>
        </p:txBody>
      </p:sp>
      <p:sp>
        <p:nvSpPr>
          <p:cNvPr id="22" name="ok2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4251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was reaped.</a:t>
            </a:r>
            <a:endParaRPr lang="en-US" sz="2200" dirty="0"/>
          </a:p>
        </p:txBody>
      </p:sp>
      <p:sp>
        <p:nvSpPr>
          <p:cNvPr id="25" name="test3"/>
          <p:cNvSpPr/>
          <p:nvPr/>
        </p:nvSpPr>
        <p:spPr>
          <a:xfrm>
            <a:off x="6217920" y="3291840"/>
            <a:ext cx="5394960" cy="1783080"/>
          </a:xfrm>
          <a:prstGeom prst="roundRect">
            <a:avLst>
              <a:gd name="adj" fmla="val 10256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26" name="tb3"/>
          <p:cNvSpPr/>
          <p:nvPr/>
        </p:nvSpPr>
        <p:spPr>
          <a:xfrm>
            <a:off x="6446520" y="35204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46520" y="3520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3520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-TERM &lt;PID&gt;</a:t>
            </a:r>
            <a:endParaRPr lang="en-US" sz="2000" dirty="0"/>
          </a:p>
        </p:txBody>
      </p:sp>
      <p:sp>
        <p:nvSpPr>
          <p:cNvPr id="29" name="ok3"/>
          <p:cNvSpPr/>
          <p:nvPr/>
        </p:nvSpPr>
        <p:spPr>
          <a:xfrm>
            <a:off x="6446520" y="4297680"/>
            <a:ext cx="457200" cy="457200"/>
          </a:xfrm>
          <a:prstGeom prst="ellipse">
            <a:avLst/>
          </a:prstGeom>
          <a:solidFill>
            <a:srgbClr val="2E9A5B"/>
          </a:solidFill>
          <a:ln w="6350">
            <a:solidFill>
              <a:srgbClr val="2E9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46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4251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terminated gracefully.</a:t>
            </a:r>
            <a:endParaRPr lang="en-US" sz="2200" dirty="0"/>
          </a:p>
        </p:txBody>
      </p:sp>
      <p:sp>
        <p:nvSpPr>
          <p:cNvPr id="32" name="strace"/>
          <p:cNvSpPr/>
          <p:nvPr/>
        </p:nvSpPr>
        <p:spPr>
          <a:xfrm>
            <a:off x="548640" y="5303520"/>
            <a:ext cx="11064240" cy="118872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C5D8E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-f -e trace=signal,process ./signal_framework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6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observe signal and process-related system calls.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Takeaways</a:t>
            </a:r>
            <a:endParaRPr lang="en-US" sz="3600" dirty="0"/>
          </a:p>
        </p:txBody>
      </p:sp>
      <p:sp>
        <p:nvSpPr>
          <p:cNvPr id="4" name="res0"/>
          <p:cNvSpPr/>
          <p:nvPr/>
        </p:nvSpPr>
        <p:spPr>
          <a:xfrm>
            <a:off x="548640" y="1371600"/>
            <a:ext cx="5394960" cy="1965960"/>
          </a:xfrm>
          <a:prstGeom prst="roundRect">
            <a:avLst>
              <a:gd name="adj" fmla="val 9302"/>
            </a:avLst>
          </a:prstGeom>
          <a:solidFill>
            <a:srgbClr val="EAF1FF"/>
          </a:solidFill>
          <a:ln w="15875">
            <a:solidFill>
              <a:srgbClr val="2F6FDE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68680" y="1554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194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handled SIGUSR1, SIGUSR2, SIGTERM and SIGINT.</a:t>
            </a:r>
            <a:endParaRPr lang="en-US" sz="2200" dirty="0"/>
          </a:p>
        </p:txBody>
      </p:sp>
      <p:sp>
        <p:nvSpPr>
          <p:cNvPr id="7" name="res1"/>
          <p:cNvSpPr/>
          <p:nvPr/>
        </p:nvSpPr>
        <p:spPr>
          <a:xfrm>
            <a:off x="6217920" y="1371600"/>
            <a:ext cx="5394960" cy="1965960"/>
          </a:xfrm>
          <a:prstGeom prst="roundRect">
            <a:avLst>
              <a:gd name="adj" fmla="val 9302"/>
            </a:avLst>
          </a:prstGeom>
          <a:solidFill>
            <a:srgbClr val="DDF4F2"/>
          </a:solidFill>
          <a:ln w="15875">
            <a:solidFill>
              <a:srgbClr val="0E8C8A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37960" y="1554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194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child process and handled SIGCHLD.</a:t>
            </a:r>
            <a:endParaRPr lang="en-US" sz="2200" dirty="0"/>
          </a:p>
        </p:txBody>
      </p:sp>
      <p:sp>
        <p:nvSpPr>
          <p:cNvPr id="10" name="res2"/>
          <p:cNvSpPr/>
          <p:nvPr/>
        </p:nvSpPr>
        <p:spPr>
          <a:xfrm>
            <a:off x="548640" y="3566160"/>
            <a:ext cx="5394960" cy="1965960"/>
          </a:xfrm>
          <a:prstGeom prst="roundRect">
            <a:avLst>
              <a:gd name="adj" fmla="val 9302"/>
            </a:avLst>
          </a:prstGeom>
          <a:solidFill>
            <a:srgbClr val="FDEBDA"/>
          </a:solidFill>
          <a:ln w="15875">
            <a:solidFill>
              <a:srgbClr val="E07B1F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6868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blocking, pending and unblocking of SIGUSR1.</a:t>
            </a:r>
            <a:endParaRPr lang="en-US" sz="2200" dirty="0"/>
          </a:p>
        </p:txBody>
      </p:sp>
      <p:sp>
        <p:nvSpPr>
          <p:cNvPr id="13" name="res3"/>
          <p:cNvSpPr/>
          <p:nvPr/>
        </p:nvSpPr>
        <p:spPr>
          <a:xfrm>
            <a:off x="6217920" y="3566160"/>
            <a:ext cx="5394960" cy="1965960"/>
          </a:xfrm>
          <a:prstGeom prst="roundRect">
            <a:avLst>
              <a:gd name="adj" fmla="val 9302"/>
            </a:avLst>
          </a:prstGeom>
          <a:solidFill>
            <a:srgbClr val="E1F5E9"/>
          </a:solidFill>
          <a:ln w="15875">
            <a:solidFill>
              <a:srgbClr val="2E9A5B"/>
            </a:solidFill>
            <a:prstDash val="solid"/>
          </a:ln>
          <a:effectLst>
            <a:outerShdw sx="100000" sy="100000" kx="0" ky="0" algn="bl" rotWithShape="0" blurRad="101600" dist="25400" dir="5400000">
              <a:srgbClr val="8FAFD3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3796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EXIT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389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graceful termination.</a:t>
            </a:r>
            <a:endParaRPr lang="en-US" sz="2200" dirty="0"/>
          </a:p>
        </p:txBody>
      </p:sp>
      <p:sp>
        <p:nvSpPr>
          <p:cNvPr id="16" name="footer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29412"/>
            </a:avLst>
          </a:prstGeom>
          <a:solidFill>
            <a:srgbClr val="1B2F55"/>
          </a:solidFill>
          <a:ln w="6350">
            <a:solidFill>
              <a:srgbClr val="1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57607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 • Process management • Signal masking • Graceful termination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Handling Framework</dc:title>
  <dc:subject>PptxGenJS Presentation</dc:subject>
  <dc:creator>PptxGenJS</dc:creator>
  <cp:lastModifiedBy>PptxGenJS</cp:lastModifiedBy>
  <cp:revision>1</cp:revision>
  <dcterms:created xsi:type="dcterms:W3CDTF">2026-10-07T07:38:38Z</dcterms:created>
  <dcterms:modified xsi:type="dcterms:W3CDTF">2026-10-07T07:38:38Z</dcterms:modified>
</cp:coreProperties>
</file>